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DkpV9TsTqhPA8agFK2LA7m/wf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2446558c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" name="Google Shape;35;g3f2446558c7_1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1b69314a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f1b69314a9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2446558c7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2446558c7_1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2446558c7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g3f2446558c7_1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1b69314a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g3f1b69314a9_1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1" type="ftr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2" type="sldNum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idx="10" type="dt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1" type="ftr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639" cy="686087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3708360" y="4221000"/>
            <a:ext cx="5113080" cy="702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Título do capítulo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60" y="0"/>
            <a:ext cx="9143639" cy="686087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3598632" y="4060921"/>
            <a:ext cx="4824000" cy="111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LUCAS SCHAFER VRIELINK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ROGER CENTENO PIRES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0000" y="5661000"/>
            <a:ext cx="1657080" cy="93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280" y="5592600"/>
            <a:ext cx="1152000" cy="8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1008782" y="1421990"/>
            <a:ext cx="7198800" cy="2061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66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CMP 196 Engenharia de Ontologias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Modelagem de um monitoramento 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preditivo de um motor </a:t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3077050" y="5260800"/>
            <a:ext cx="460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Professora: MARA ABEL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11280" y="0"/>
            <a:ext cx="6913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</a:rPr>
              <a:t>Domínio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809700" y="1479550"/>
            <a:ext cx="75246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solidFill>
                  <a:schemeClr val="dk1"/>
                </a:solidFill>
              </a:rPr>
              <a:t>O Motor como Ativo Crítico: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É o componente principal de muitos carros e </a:t>
            </a:r>
            <a:r>
              <a:rPr lang="en-US" sz="1800">
                <a:solidFill>
                  <a:schemeClr val="dk1"/>
                </a:solidFill>
              </a:rPr>
              <a:t>requer disponibilidade máxima e falha zero.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solidFill>
                  <a:schemeClr val="dk1"/>
                </a:solidFill>
              </a:rPr>
              <a:t>Transição de Paradigma:</a:t>
            </a:r>
            <a:r>
              <a:rPr lang="en-US" sz="1800">
                <a:solidFill>
                  <a:schemeClr val="dk1"/>
                </a:solidFill>
              </a:rPr>
              <a:t> Mudança da manutenção "consertar quando quebra" para a antecipação inteligente de estados de falha.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solidFill>
                  <a:schemeClr val="dk1"/>
                </a:solidFill>
              </a:rPr>
              <a:t>Digital Twins</a:t>
            </a:r>
            <a:r>
              <a:rPr b="1" lang="en-US" sz="1800">
                <a:solidFill>
                  <a:schemeClr val="dk1"/>
                </a:solidFill>
              </a:rPr>
              <a:t>:</a:t>
            </a:r>
            <a:r>
              <a:rPr lang="en-US" sz="1800">
                <a:solidFill>
                  <a:schemeClr val="dk1"/>
                </a:solidFill>
              </a:rPr>
              <a:t> Integração de sistemas físicos, sensores IoT e algoritmos de Machine Learning em uma única estrutura de conhecimento.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2446558c7_1_25"/>
          <p:cNvSpPr/>
          <p:nvPr/>
        </p:nvSpPr>
        <p:spPr>
          <a:xfrm>
            <a:off x="611280" y="0"/>
            <a:ext cx="691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</a:rPr>
              <a:t>Domínio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f2446558c7_1_25"/>
          <p:cNvSpPr txBox="1"/>
          <p:nvPr/>
        </p:nvSpPr>
        <p:spPr>
          <a:xfrm>
            <a:off x="553200" y="1605000"/>
            <a:ext cx="80376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marR="381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solidFill>
                  <a:schemeClr val="dk1"/>
                </a:solidFill>
              </a:rPr>
              <a:t>O Ativo Físico: </a:t>
            </a:r>
            <a:r>
              <a:rPr lang="en-US" sz="1800">
                <a:solidFill>
                  <a:schemeClr val="dk1"/>
                </a:solidFill>
              </a:rPr>
              <a:t>Representação ontológica do motor e suas partes fundamentais: Pistão, Virabrequim, Sistemas de Ignição e Injeção.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marR="381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228600" lvl="0" marL="457200" marR="381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solidFill>
                  <a:schemeClr val="dk1"/>
                </a:solidFill>
              </a:rPr>
              <a:t>Fluxo de Informações: </a:t>
            </a:r>
            <a:r>
              <a:rPr lang="en-US" sz="1800">
                <a:solidFill>
                  <a:schemeClr val="dk1"/>
                </a:solidFill>
              </a:rPr>
              <a:t>Qualidades observáveis (Temperatura, Vibração, Velocidade) traduzidas em sinais e dados por meio de sensores especializados.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marR="381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8600" lvl="0" marL="457200" marR="381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solidFill>
                  <a:schemeClr val="dk1"/>
                </a:solidFill>
              </a:rPr>
              <a:t>Inteligência: </a:t>
            </a:r>
            <a:r>
              <a:rPr lang="en-US" sz="1800">
                <a:solidFill>
                  <a:schemeClr val="dk1"/>
                </a:solidFill>
              </a:rPr>
              <a:t>Modelos de Machine Learning que processam o histórico de dados para gerar predições sobre a suscetibilidade à falha do motor.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/>
          <p:nvPr/>
        </p:nvSpPr>
        <p:spPr>
          <a:xfrm>
            <a:off x="611280" y="0"/>
            <a:ext cx="6913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</a:rPr>
              <a:t>Questões de Competência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1b69314a9_1_0"/>
          <p:cNvSpPr/>
          <p:nvPr/>
        </p:nvSpPr>
        <p:spPr>
          <a:xfrm>
            <a:off x="611280" y="0"/>
            <a:ext cx="691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</a:rPr>
              <a:t>Ontologias Utilizadas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611280" y="0"/>
            <a:ext cx="6913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Modelagem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4" title="segundo_modelo-Motor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6700" y="902233"/>
            <a:ext cx="6194006" cy="5803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2446558c7_1_9"/>
          <p:cNvSpPr/>
          <p:nvPr/>
        </p:nvSpPr>
        <p:spPr>
          <a:xfrm>
            <a:off x="611280" y="0"/>
            <a:ext cx="691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Modelagem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g3f2446558c7_1_9" title="segundo_modelo-Sensor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550" y="798475"/>
            <a:ext cx="7692213" cy="58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2446558c7_1_13"/>
          <p:cNvSpPr/>
          <p:nvPr/>
        </p:nvSpPr>
        <p:spPr>
          <a:xfrm>
            <a:off x="611280" y="0"/>
            <a:ext cx="691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Modelagem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g3f2446558c7_1_13" title="segundo_modelo-ML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02100"/>
            <a:ext cx="8839201" cy="5625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1b69314a9_1_4"/>
          <p:cNvSpPr/>
          <p:nvPr/>
        </p:nvSpPr>
        <p:spPr>
          <a:xfrm>
            <a:off x="611280" y="0"/>
            <a:ext cx="6913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</a:rPr>
              <a:t>Referencias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639" cy="686087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3708360" y="4221000"/>
            <a:ext cx="51132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Título do capítulo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639" cy="686087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3708360" y="4292640"/>
            <a:ext cx="30954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 !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826920" y="2421000"/>
            <a:ext cx="75606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Instituto de Informática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8720" y="5824440"/>
            <a:ext cx="136800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280" y="5648400"/>
            <a:ext cx="1080720" cy="842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